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822960"/>
            <a:ext cx="8412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ICU Mortality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920240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02C39A"/>
                </a:solidFill>
              </a:rPr>
              <a:t>End-to-End ML Pipeline on Imbalanced Clinical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2651760"/>
            <a:ext cx="3474720" cy="36576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28346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Binary Classification  •  79,999 patients  •  341 variables  •  3.5% class imbalance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2519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</a:rPr>
              <a:t>Derathe Pierre  •  Repaire Bastien  •  Rohault de Fleury Jules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79" y="4160520"/>
            <a:ext cx="1371600" cy="64008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79" y="416052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65A82"/>
                </a:solidFill>
              </a:rPr>
              <a:t>18/20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55448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Context &amp; 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43000"/>
            <a:ext cx="283464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143000"/>
            <a:ext cx="2834640" cy="4572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1170432"/>
            <a:ext cx="2651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Objective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719072"/>
            <a:ext cx="2651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Predict whether a patient will die during
their hospital stay, given their clinical
record at admission.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46120" y="1143000"/>
            <a:ext cx="283464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46120" y="1143000"/>
            <a:ext cx="2834640" cy="4572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55848" y="1170432"/>
            <a:ext cx="2651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Main Challenge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55848" y="1719072"/>
            <a:ext cx="2651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Extreme class imbalance:
3.5% deaths vs 96.5% survivors.
A naive model achieves 96.5% accuracy
by always predicting survival.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143000"/>
            <a:ext cx="283464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143000"/>
            <a:ext cx="2834640" cy="4572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7648" y="1170432"/>
            <a:ext cx="2651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Evaluation Metric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8" y="1719072"/>
            <a:ext cx="2651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Balanced Accuracy:
mean recall per class.
= 0.5 for random classifier
= 1.0 for perfect classifier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55448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Dataset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920240" cy="13716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70432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2C39A"/>
                </a:solidFill>
              </a:rPr>
              <a:t>79,999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8288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train patients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2514600" y="1097280"/>
            <a:ext cx="1920240" cy="13716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14600" y="1170432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2C39A"/>
                </a:solidFill>
              </a:rPr>
              <a:t>20,001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18288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test patients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1097280"/>
            <a:ext cx="1920240" cy="13716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170432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2C39A"/>
                </a:solidFill>
              </a:rPr>
              <a:t>341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18288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variables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12280" y="1097280"/>
            <a:ext cx="1920240" cy="13716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12280" y="1170432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2C39A"/>
                </a:solidFill>
              </a:rPr>
              <a:t>3.5%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2280" y="18288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death rate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651760"/>
            <a:ext cx="8412480" cy="3657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2788920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5A82"/>
                </a:solidFill>
              </a:rPr>
              <a:t>Initial variable types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200400"/>
            <a:ext cx="1696868" cy="36576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3657600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Numerical (226)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0" y="3200400"/>
            <a:ext cx="803384" cy="3657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0" y="3657600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Binary (107)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35040" y="3200400"/>
            <a:ext cx="201168" cy="365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5040" y="3657600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Categorical (8)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096512"/>
            <a:ext cx="8412480" cy="36576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420624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65A82"/>
                </a:solidFill>
              </a:rPr>
              <a:t>After cleaning: 164 variables retained  (177 removed: 173 constant + 4 categorical)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55448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ML Pipeline —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7" y="1005840"/>
            <a:ext cx="594360" cy="5943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7" y="100584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691640"/>
            <a:ext cx="137160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691640"/>
            <a:ext cx="1371600" cy="420624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" y="1709928"/>
            <a:ext cx="12618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Data
Loading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" y="2194560"/>
            <a:ext cx="1261872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79,999 patients
341 variables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27632" y="2011680"/>
            <a:ext cx="64008" cy="20116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75688" y="1005840"/>
            <a:ext cx="594360" cy="5943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75688" y="100584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91640" y="1691640"/>
            <a:ext cx="137160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691640" y="1691640"/>
            <a:ext cx="1371600" cy="42062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55648" y="1709928"/>
            <a:ext cx="12618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Exploratory
Analysis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55648" y="2194560"/>
            <a:ext cx="1261872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Types, missing
values, class dist.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90672" y="2011680"/>
            <a:ext cx="64008" cy="20116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538728" y="1005840"/>
            <a:ext cx="594360" cy="5943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38728" y="100584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54680" y="1691640"/>
            <a:ext cx="137160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154680" y="1691640"/>
            <a:ext cx="1371600" cy="420624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18688" y="1709928"/>
            <a:ext cx="12618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Feature
Selection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18688" y="2194560"/>
            <a:ext cx="1261872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177 variables
removed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53712" y="2011680"/>
            <a:ext cx="64008" cy="20116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01768" y="1005840"/>
            <a:ext cx="594360" cy="5943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1768" y="100584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17720" y="1691640"/>
            <a:ext cx="137160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617720" y="1691640"/>
            <a:ext cx="1371600" cy="42062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81728" y="1709928"/>
            <a:ext cx="12618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Resampling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81728" y="2194560"/>
            <a:ext cx="1261872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RandomOverSampler
SMOTE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16752" y="2011680"/>
            <a:ext cx="64008" cy="20116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64808" y="1005840"/>
            <a:ext cx="594360" cy="5943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64808" y="100584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80760" y="1691640"/>
            <a:ext cx="137160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080760" y="1691640"/>
            <a:ext cx="1371600" cy="420624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44768" y="1709928"/>
            <a:ext cx="12618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Modeling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44768" y="2194560"/>
            <a:ext cx="1261872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StandardScaler
PCA → Classifier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79792" y="2011680"/>
            <a:ext cx="64008" cy="20116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927848" y="1005840"/>
            <a:ext cx="594360" cy="5943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927848" y="100584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543800" y="1691640"/>
            <a:ext cx="137160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543800" y="1691640"/>
            <a:ext cx="1371600" cy="42062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607808" y="1709928"/>
            <a:ext cx="12618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Evaluation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07808" y="2194560"/>
            <a:ext cx="1261872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5-fold CV
GridSearch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55448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Feature Selection — Point-Biserial Correlation with DIED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87552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Criterion: correlation &lt; 0.01 AND p-value &gt; 0.05 → removed  |  Clinical justification overrides statistical threshold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508760"/>
            <a:ext cx="2834640" cy="3291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508760"/>
            <a:ext cx="2834640" cy="45720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536192"/>
            <a:ext cx="2651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173 constant
variables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057400"/>
            <a:ext cx="2651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Always 0 across all
patients — zero
information content.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4069080"/>
            <a:ext cx="2651760" cy="475488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4087368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Removed
systematically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1508760"/>
            <a:ext cx="2834640" cy="3291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46120" y="1508760"/>
            <a:ext cx="2834640" cy="4572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37560" y="1536192"/>
            <a:ext cx="2651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4 categorical
variables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2057400"/>
            <a:ext cx="2651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RELIGION, MARITAL_STATUS
ETHNICITY, LANGUAGE:
null signal + p &gt; 0.05
no clinical basis.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37560" y="4069080"/>
            <a:ext cx="2651760" cy="475488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37560" y="4087368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Removed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508760"/>
            <a:ext cx="2834640" cy="3291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1508760"/>
            <a:ext cx="2834640" cy="4572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59" y="1536192"/>
            <a:ext cx="2651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3 categorical
variables kept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59" y="2057400"/>
            <a:ext cx="2651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GENDER (p≈0, physio.)
ICU (p=0.0001, severity)
INSURANCE (SES proxy
in US healthcare).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59" y="4069080"/>
            <a:ext cx="2651760" cy="47548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59" y="4087368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Retained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4846320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</a:rPr>
              <a:t>All numerical/binary non-constant variables retained — comorbidities and vital signs are clinically meaningful; PCA handles dimensionality reduction.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55448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Exploratory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4114800" cy="3840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4114800" cy="41148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33271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Class Imbalance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Survival (0)</a:t>
            </a:r>
          </a:p>
        </p:txBody>
      </p:sp>
      <p:sp>
        <p:nvSpPr>
          <p:cNvPr id="8" name="Rectangle 7"/>
          <p:cNvSpPr/>
          <p:nvPr/>
        </p:nvSpPr>
        <p:spPr>
          <a:xfrm>
            <a:off x="1920240" y="1609344"/>
            <a:ext cx="2331720" cy="246888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15968" y="157276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7293"/>
                </a:solidFill>
              </a:rPr>
              <a:t>96.5%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98424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Death (1)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20240" y="2020824"/>
            <a:ext cx="82296" cy="246888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15968" y="198424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96167"/>
                </a:solidFill>
              </a:rPr>
              <a:t>3.5%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2423160"/>
            <a:ext cx="3840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A naive classifier always predicting
'survival' achieves 96.5% accuracy
but detects 0% of deaths.
Balanced accuracy = 0.5 for this
baseline — not better than random.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0" y="1005840"/>
            <a:ext cx="4114800" cy="3840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754880" y="1005840"/>
            <a:ext cx="4114800" cy="41148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6320" y="1033271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Vital Signs Day 1 — Survival vs Death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46320" y="1572768"/>
            <a:ext cx="731520" cy="24688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46320" y="1572768"/>
            <a:ext cx="7315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50992" y="1572768"/>
            <a:ext cx="3063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Median ~65 in both groups.
Age alone does not discriminate.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46320" y="2596896"/>
            <a:ext cx="731520" cy="24688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46320" y="2596896"/>
            <a:ext cx="7315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HR_MEAN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50992" y="2596896"/>
            <a:ext cx="3063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Heart rate ~88-93 bpm.
Distributions nearly identical.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46320" y="3621024"/>
            <a:ext cx="731520" cy="24688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46320" y="3621024"/>
            <a:ext cx="7315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TEMP_MEAN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50992" y="3621024"/>
            <a:ext cx="3063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Temperature ~37°C in both.
Not discriminative alone.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0" y="443484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</a:rPr>
              <a:t>Individual variables are insufficient — the model must combine all 164 retained features.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55448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Modeling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192024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1920240" cy="420624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" y="1033271"/>
            <a:ext cx="1783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RandomOverSampler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1517904"/>
            <a:ext cx="1783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Duplicates minority
class (deaths)
on train set 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31720" y="201168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2C39A"/>
                </a:solidFill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2514600" y="1005840"/>
            <a:ext cx="192024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14600" y="1005840"/>
            <a:ext cx="1920240" cy="42062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87752" y="1033271"/>
            <a:ext cx="1783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StandardScaler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87752" y="1517904"/>
            <a:ext cx="1783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Normalization
mean=0, std=1
required before PCA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01168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2C39A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63440" y="1005840"/>
            <a:ext cx="192024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663440" y="1005840"/>
            <a:ext cx="1920240" cy="420624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36592" y="1033271"/>
            <a:ext cx="1783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PCA  (n=10)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6592" y="1517904"/>
            <a:ext cx="1783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Dimensionality
reduction. Optimal
via GridSearch CV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201168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2C39A"/>
                </a:solidFill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12280" y="1005840"/>
            <a:ext cx="192024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12280" y="1005840"/>
            <a:ext cx="1920240" cy="42062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85432" y="1033271"/>
            <a:ext cx="1783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GaussianNB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85432" y="1517904"/>
            <a:ext cx="1783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Best CV score: 0.672
Fastest training
Stable (std=0.001)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593592"/>
            <a:ext cx="8412480" cy="457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3730752"/>
            <a:ext cx="8229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5A82"/>
                </a:solidFill>
              </a:rPr>
              <a:t>Impact of resampling (RandomOverSampler):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114800"/>
            <a:ext cx="4069080" cy="658368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5488" y="4178808"/>
            <a:ext cx="3886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Without ROS  —  Recall = 0  •  Bal. Acc. = 0.50  •  Useless model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63440" y="4114800"/>
            <a:ext cx="4114800" cy="65836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73168" y="4178808"/>
            <a:ext cx="3931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With ROS  —  Recall = 0.54-0.69  •  Bal. Acc. = 0.65-0.70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55448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Results &amp; Evaluation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3108960" cy="384048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24128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Approach</a:t>
            </a:r>
          </a:p>
        </p:txBody>
      </p:sp>
      <p:sp>
        <p:nvSpPr>
          <p:cNvPr id="6" name="Rectangle 5"/>
          <p:cNvSpPr/>
          <p:nvPr/>
        </p:nvSpPr>
        <p:spPr>
          <a:xfrm>
            <a:off x="3520440" y="1005840"/>
            <a:ext cx="1097280" cy="384048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60" y="1024128"/>
            <a:ext cx="10058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Bal. Acc.</a:t>
            </a:r>
          </a:p>
        </p:txBody>
      </p:sp>
      <p:sp>
        <p:nvSpPr>
          <p:cNvPr id="8" name="Rectangle 7"/>
          <p:cNvSpPr/>
          <p:nvPr/>
        </p:nvSpPr>
        <p:spPr>
          <a:xfrm>
            <a:off x="4663440" y="1005840"/>
            <a:ext cx="914400" cy="384048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59" y="1024128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Recall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23560" y="1005840"/>
            <a:ext cx="2743200" cy="384048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0" y="1024128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Note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426464"/>
            <a:ext cx="3108960" cy="438912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0624" y="1490472"/>
            <a:ext cx="29992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Without resampling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20440" y="1426464"/>
            <a:ext cx="1097280" cy="438912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75304" y="1490472"/>
            <a:ext cx="9875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E293B"/>
                </a:solidFill>
              </a:rPr>
              <a:t>~0.50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63440" y="1426464"/>
            <a:ext cx="914400" cy="438912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18303" y="1490472"/>
            <a:ext cx="8046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E293B"/>
                </a:solidFill>
              </a:rPr>
              <a:t>= 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23560" y="1426464"/>
            <a:ext cx="2743200" cy="438912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78424" y="1490472"/>
            <a:ext cx="2633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E293B"/>
                </a:solidFill>
              </a:rPr>
              <a:t>Random baseline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1883664"/>
            <a:ext cx="3108960" cy="43891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0624" y="1947672"/>
            <a:ext cx="29992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ROS + GaussianNB + PCA(10)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520440" y="1883664"/>
            <a:ext cx="1097280" cy="43891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75304" y="1947672"/>
            <a:ext cx="9875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0.672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63440" y="1883664"/>
            <a:ext cx="914400" cy="43891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18303" y="1947672"/>
            <a:ext cx="8046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0.635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23560" y="1883664"/>
            <a:ext cx="2743200" cy="43891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78424" y="1947672"/>
            <a:ext cx="2633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Best — CV 5-fold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2340864"/>
            <a:ext cx="3108960" cy="438912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0624" y="2404872"/>
            <a:ext cx="29992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ROS + LogisticReg + PCA(10)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520440" y="2340864"/>
            <a:ext cx="1097280" cy="438912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75304" y="2404872"/>
            <a:ext cx="9875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E293B"/>
                </a:solidFill>
              </a:rPr>
              <a:t>0.666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63440" y="2340864"/>
            <a:ext cx="914400" cy="438912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3" y="2404872"/>
            <a:ext cx="8046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E293B"/>
                </a:solidFill>
              </a:rPr>
              <a:t>0.689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23560" y="2340864"/>
            <a:ext cx="2743200" cy="438912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78424" y="2404872"/>
            <a:ext cx="2633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E293B"/>
                </a:solidFill>
              </a:rPr>
              <a:t>CV 5-fold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2798064"/>
            <a:ext cx="310896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0624" y="2862072"/>
            <a:ext cx="29992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SMOTE + GaussianNB (CV)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520440" y="2798064"/>
            <a:ext cx="109728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575304" y="2862072"/>
            <a:ext cx="9875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E293B"/>
                </a:solidFill>
              </a:rPr>
              <a:t>0.637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63440" y="2798064"/>
            <a:ext cx="9144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3" y="2862072"/>
            <a:ext cx="8046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E293B"/>
                </a:solidFill>
              </a:rPr>
              <a:t>—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23560" y="2798064"/>
            <a:ext cx="27432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678424" y="2862072"/>
            <a:ext cx="2633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E293B"/>
                </a:solidFill>
              </a:rPr>
              <a:t>CV integrated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3319272"/>
            <a:ext cx="8412480" cy="457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60" y="3438144"/>
            <a:ext cx="6400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5A82"/>
                </a:solidFill>
              </a:rPr>
              <a:t>Confusion Matrix  (GaussianNB + PCA(10) + ROS)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3813048"/>
            <a:ext cx="1389888" cy="356616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02336" y="3867911"/>
            <a:ext cx="1325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48" name="Rectangle 47"/>
          <p:cNvSpPr/>
          <p:nvPr/>
        </p:nvSpPr>
        <p:spPr>
          <a:xfrm>
            <a:off x="1828800" y="3813048"/>
            <a:ext cx="1389888" cy="356616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865376" y="3867911"/>
            <a:ext cx="1325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Predicted Survival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91840" y="3813048"/>
            <a:ext cx="1389888" cy="356616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328416" y="3867911"/>
            <a:ext cx="1325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Predicted Death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5760" y="4197096"/>
            <a:ext cx="1389888" cy="356616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02336" y="4251959"/>
            <a:ext cx="1325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Real Survival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828800" y="4197096"/>
            <a:ext cx="1389888" cy="3566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865376" y="4251959"/>
            <a:ext cx="1325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293B"/>
                </a:solidFill>
              </a:rPr>
              <a:t>VN = 10,789 ✓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291840" y="4197096"/>
            <a:ext cx="1389888" cy="3566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328416" y="4251959"/>
            <a:ext cx="1325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293B"/>
                </a:solidFill>
              </a:rPr>
              <a:t>FP = 4,652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65760" y="4581144"/>
            <a:ext cx="1389888" cy="356616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02336" y="4636007"/>
            <a:ext cx="1325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Real Death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828800" y="4581144"/>
            <a:ext cx="1389888" cy="356616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865376" y="4636007"/>
            <a:ext cx="1325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FN = 204 ✗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291840" y="4581144"/>
            <a:ext cx="1389888" cy="356616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328416" y="4636007"/>
            <a:ext cx="1325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VP = 355 ✓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937760" y="3858768"/>
            <a:ext cx="3840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AUC: GaussianNB = 0.723  •  LogisticReg = 0.719  (negligible gap)
355 deaths detected out of 559  •  204 missed (FN) — most critical clinical error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55448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Resampling — ROS vs SMOTE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4023360" cy="3794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4023360" cy="43891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33271"/>
            <a:ext cx="38404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RandomOverSampler (ROS)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1572768"/>
            <a:ext cx="3840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</a:rPr>
              <a:t>Principle: randomly duplicates existing
examples from the minority class.
</a:t>
            </a:r>
          </a:p>
          <a:p>
            <a:pPr algn="l"/>
            <a:r>
              <a:rPr sz="1200" b="1">
                <a:solidFill>
                  <a:srgbClr val="1E293B"/>
                </a:solidFill>
              </a:rPr>
              <a:t>Results:</a:t>
            </a:r>
          </a:p>
          <a:p>
            <a:pPr algn="l"/>
            <a:r>
              <a:rPr sz="1200" b="0">
                <a:solidFill>
                  <a:srgbClr val="1E293B"/>
                </a:solidFill>
              </a:rPr>
              <a:t>
  Bal. Acc. = 0.672 (CV 5-fold)</a:t>
            </a:r>
          </a:p>
          <a:p>
            <a:pPr algn="l"/>
            <a:r>
              <a:rPr sz="1200" b="0">
                <a:solidFill>
                  <a:srgbClr val="1E293B"/>
                </a:solidFill>
              </a:rPr>
              <a:t>
  Recall = 0.635</a:t>
            </a:r>
          </a:p>
          <a:p>
            <a:pPr algn="l"/>
            <a:r>
              <a:rPr sz="1200" b="0">
                <a:solidFill>
                  <a:srgbClr val="1E293B"/>
                </a:solidFill>
              </a:rPr>
              <a:t>
  Retained as final strategy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0" y="1005840"/>
            <a:ext cx="4023360" cy="3794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754880" y="1005840"/>
            <a:ext cx="4023360" cy="43891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0" y="1033271"/>
            <a:ext cx="38404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SMOTE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64608" y="1572768"/>
            <a:ext cx="3840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</a:rPr>
              <a:t>Principle: generates synthetic samples
by interpolation between neighbors.
</a:t>
            </a:r>
          </a:p>
          <a:p>
            <a:pPr algn="l"/>
            <a:r>
              <a:rPr sz="1200" b="1">
                <a:solidFill>
                  <a:srgbClr val="1E293B"/>
                </a:solidFill>
              </a:rPr>
              <a:t>Results:</a:t>
            </a:r>
          </a:p>
          <a:p>
            <a:pPr algn="l"/>
            <a:r>
              <a:rPr sz="1200" b="0">
                <a:solidFill>
                  <a:srgbClr val="1E293B"/>
                </a:solidFill>
              </a:rPr>
              <a:t>
  Bal. Acc. = 0.637 (CV integrated)</a:t>
            </a:r>
          </a:p>
          <a:p>
            <a:pPr algn="l"/>
            <a:r>
              <a:rPr sz="1200" b="0">
                <a:solidFill>
                  <a:srgbClr val="1E293B"/>
                </a:solidFill>
              </a:rPr>
              <a:t>
  Lower than ROS with GaussianNB</a:t>
            </a:r>
          </a:p>
          <a:p>
            <a:pPr algn="l"/>
            <a:r>
              <a:rPr sz="1200" b="0">
                <a:solidFill>
                  <a:srgbClr val="1E293B"/>
                </a:solidFill>
              </a:rPr>
              <a:t>
  Interpolation disrupts Gaussian
  assumptions of the model.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4846320"/>
            <a:ext cx="8412480" cy="36576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</a:rPr>
              <a:t>ROS better suited to GaussianNB. SMOTE more relevant with non-parametric models (XGBoost, Random Forest).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5603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Conclusion &amp; Perspectives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8412480" cy="65836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8229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5A82"/>
                </a:solidFill>
              </a:rPr>
              <a:t>Best result:  ROS + GaussianNB + PCA(n=10)  →  Balanced Accuracy = 0.672  (CV 5-fold)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874519"/>
            <a:ext cx="4114800" cy="2606040"/>
          </a:xfrm>
          <a:prstGeom prst="rect">
            <a:avLst/>
          </a:prstGeom>
          <a:solidFill>
            <a:srgbClr val="0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20240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C39A"/>
                </a:solidFill>
              </a:rPr>
              <a:t>What worked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359152"/>
            <a:ext cx="38404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ROS resampling: recall 0 → 0.635</a:t>
            </a:r>
          </a:p>
          <a:p>
            <a:pPr algn="l"/>
            <a:r>
              <a:rPr sz="1100" b="0">
                <a:solidFill>
                  <a:srgbClr val="FFFFFF"/>
                </a:solidFill>
              </a:rPr>
              <a:t>
Feature selection: 177 variables removed</a:t>
            </a:r>
          </a:p>
          <a:p>
            <a:pPr algn="l"/>
            <a:r>
              <a:rPr sz="1100" b="0">
                <a:solidFill>
                  <a:srgbClr val="FFFFFF"/>
                </a:solidFill>
              </a:rPr>
              <a:t>
GaussianNB &gt; LogReg (+0.006, more stable)</a:t>
            </a:r>
          </a:p>
          <a:p>
            <a:pPr algn="l"/>
            <a:r>
              <a:rPr sz="1100" b="0">
                <a:solidFill>
                  <a:srgbClr val="FFFFFF"/>
                </a:solidFill>
              </a:rPr>
              <a:t>
PCA n=10 optimal via GridSearch 5-fold</a:t>
            </a:r>
          </a:p>
          <a:p>
            <a:pPr algn="l"/>
            <a:r>
              <a:rPr sz="1100" b="0">
                <a:solidFill>
                  <a:srgbClr val="FFFFFF"/>
                </a:solidFill>
              </a:rPr>
              <a:t>
Pipeline with no data leakage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1874519"/>
            <a:ext cx="4114800" cy="2606040"/>
          </a:xfrm>
          <a:prstGeom prst="rect">
            <a:avLst/>
          </a:prstGeom>
          <a:solidFill>
            <a:srgbClr val="0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00600" y="1920240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C39A"/>
                </a:solidFill>
              </a:rPr>
              <a:t>Perspectives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2359152"/>
            <a:ext cx="38404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XGBoost / LightGBM (scale_pos_weight)</a:t>
            </a:r>
          </a:p>
          <a:p>
            <a:pPr algn="l"/>
            <a:r>
              <a:rPr sz="1100" b="0">
                <a:solidFill>
                  <a:srgbClr val="FFFFFF"/>
                </a:solidFill>
              </a:rPr>
              <a:t>
class_weight="balanced" in LogReg</a:t>
            </a:r>
          </a:p>
          <a:p>
            <a:pPr algn="l"/>
            <a:r>
              <a:rPr sz="1100" b="0">
                <a:solidFill>
                  <a:srgbClr val="FFFFFF"/>
                </a:solidFill>
              </a:rPr>
              <a:t>
Feature selection on real (non-GAN) data</a:t>
            </a:r>
          </a:p>
          <a:p>
            <a:pPr algn="l"/>
            <a:r>
              <a:rPr sz="1100" b="0">
                <a:solidFill>
                  <a:srgbClr val="FFFFFF"/>
                </a:solidFill>
              </a:rPr>
              <a:t>
GridSearch on full dataset (memory lifted)</a:t>
            </a:r>
          </a:p>
          <a:p>
            <a:pPr algn="l"/>
            <a:r>
              <a:rPr sz="1100" b="0">
                <a:solidFill>
                  <a:srgbClr val="FFFFFF"/>
                </a:solidFill>
              </a:rPr>
              <a:t>
Calibration of predicted probabilities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773168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</a:rPr>
              <a:t>Codalab Challenge  •  Submitted model: GaussianNB + ROS + PCA(n=10)  •  Score: 18/20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